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2" r:id="rId10"/>
    <p:sldId id="264" r:id="rId11"/>
    <p:sldId id="263" r:id="rId12"/>
    <p:sldId id="265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7800" y="1447800"/>
            <a:ext cx="7406640" cy="3962400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MBWA </a:t>
            </a:r>
            <a:br>
              <a:rPr lang="en-US" sz="4800" dirty="0"/>
            </a:br>
            <a:r>
              <a:rPr lang="en-US" sz="4800" dirty="0"/>
              <a:t>(</a:t>
            </a:r>
            <a:r>
              <a:rPr lang="en-GB" sz="4800" dirty="0"/>
              <a:t>Management by Wandering/Walking Around)</a:t>
            </a:r>
            <a:r>
              <a:rPr lang="en-US" sz="4800" dirty="0"/>
              <a:t> </a:t>
            </a:r>
            <a:br>
              <a:rPr lang="en-US" sz="4800" dirty="0"/>
            </a:br>
            <a:r>
              <a:rPr lang="en-US" sz="4800" dirty="0"/>
              <a:t>&amp; </a:t>
            </a:r>
            <a:br>
              <a:rPr lang="en-US" sz="4800" dirty="0"/>
            </a:br>
            <a:r>
              <a:rPr lang="en-US" sz="4800" dirty="0"/>
              <a:t>Decision making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Students will understand the concept of MBWA </a:t>
            </a:r>
          </a:p>
          <a:p>
            <a:r>
              <a:rPr lang="en-GB" dirty="0"/>
              <a:t>Students will gain an understanding about decision making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MCQ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__________ System gives full Scope to the Individual Strength and Responsibility.</a:t>
            </a:r>
          </a:p>
          <a:p>
            <a:endParaRPr lang="en-GB" dirty="0"/>
          </a:p>
          <a:p>
            <a:pPr>
              <a:buNone/>
            </a:pPr>
            <a:r>
              <a:rPr lang="en-US" b="1" dirty="0"/>
              <a:t>A</a:t>
            </a:r>
            <a:r>
              <a:rPr lang="en-US" dirty="0"/>
              <a:t> </a:t>
            </a:r>
            <a:r>
              <a:rPr lang="en-US" b="1" dirty="0"/>
              <a:t>MBO</a:t>
            </a:r>
            <a:endParaRPr lang="en-US" dirty="0"/>
          </a:p>
          <a:p>
            <a:pPr>
              <a:buNone/>
            </a:pPr>
            <a:r>
              <a:rPr lang="en-US" b="1" dirty="0"/>
              <a:t>B</a:t>
            </a:r>
            <a:r>
              <a:rPr lang="en-US" dirty="0"/>
              <a:t> </a:t>
            </a:r>
            <a:r>
              <a:rPr lang="en-US" b="1" dirty="0"/>
              <a:t>MBE</a:t>
            </a:r>
            <a:endParaRPr lang="en-US" dirty="0"/>
          </a:p>
          <a:p>
            <a:pPr>
              <a:buNone/>
            </a:pPr>
            <a:r>
              <a:rPr lang="en-US" b="1" dirty="0"/>
              <a:t>C</a:t>
            </a:r>
            <a:r>
              <a:rPr lang="en-US" dirty="0"/>
              <a:t> </a:t>
            </a:r>
            <a:r>
              <a:rPr lang="en-US" b="1" dirty="0"/>
              <a:t>MGT</a:t>
            </a:r>
            <a:endParaRPr lang="en-US" dirty="0"/>
          </a:p>
          <a:p>
            <a:pPr>
              <a:buNone/>
            </a:pPr>
            <a:r>
              <a:rPr lang="en-US" b="1" dirty="0"/>
              <a:t>D</a:t>
            </a:r>
            <a:r>
              <a:rPr lang="en-US" dirty="0"/>
              <a:t> </a:t>
            </a:r>
            <a:r>
              <a:rPr lang="en-US" b="1" dirty="0"/>
              <a:t>MBA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0"/>
            <a:ext cx="7498080" cy="914400"/>
          </a:xfrm>
        </p:spPr>
        <p:txBody>
          <a:bodyPr/>
          <a:lstStyle/>
          <a:p>
            <a:pPr algn="ctr"/>
            <a:r>
              <a:rPr lang="en-IN" dirty="0"/>
              <a:t>MBWA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914400"/>
            <a:ext cx="7943088" cy="57912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GB" dirty="0"/>
              <a:t>The concept of having management walk amongst subordinates and talk to them face-to-face, had been used by managers and organizations for decades, the term ‘</a:t>
            </a:r>
            <a:r>
              <a:rPr lang="en-GB" i="1" dirty="0"/>
              <a:t>management by walking around</a:t>
            </a:r>
            <a:r>
              <a:rPr lang="en-GB" dirty="0"/>
              <a:t>’ was popularized in the 1980s and profound by </a:t>
            </a:r>
            <a:r>
              <a:rPr lang="en-GB" b="1" u="sng" dirty="0"/>
              <a:t>Tom Peters.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MBWA or management by wandering around enables interaction with subordinates at the workstations, which creates the impression that the management is standing by the team members.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 For instance, it might be about the health of an employee who recently took leave due to an illness or his hobbies or interests. Such interactions help build rapport.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0990" y="0"/>
            <a:ext cx="7498080" cy="1143000"/>
          </a:xfrm>
        </p:spPr>
        <p:txBody>
          <a:bodyPr/>
          <a:lstStyle/>
          <a:p>
            <a:pPr algn="ctr"/>
            <a:r>
              <a:rPr lang="en-IN" dirty="0"/>
              <a:t>MBWA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143000"/>
            <a:ext cx="7498080" cy="5448300"/>
          </a:xfrm>
        </p:spPr>
        <p:txBody>
          <a:bodyPr/>
          <a:lstStyle/>
          <a:p>
            <a:pPr algn="just">
              <a:buNone/>
            </a:pPr>
            <a:r>
              <a:rPr lang="en-GB" b="1" cap="all" dirty="0"/>
              <a:t>THREE KEY COMPONENTS TO MBWA</a:t>
            </a:r>
          </a:p>
          <a:p>
            <a:pPr algn="just">
              <a:buNone/>
            </a:pPr>
            <a:r>
              <a:rPr lang="en-GB" dirty="0"/>
              <a:t>1. Walking around the workplace</a:t>
            </a:r>
          </a:p>
          <a:p>
            <a:pPr algn="just">
              <a:buNone/>
            </a:pPr>
            <a:r>
              <a:rPr lang="en-GB" dirty="0"/>
              <a:t>2. Talking to employees</a:t>
            </a:r>
          </a:p>
          <a:p>
            <a:pPr algn="just">
              <a:buNone/>
            </a:pPr>
            <a:r>
              <a:rPr lang="en-GB" dirty="0"/>
              <a:t>3. Creating personal networks</a:t>
            </a:r>
          </a:p>
          <a:p>
            <a:pPr algn="just">
              <a:buNone/>
            </a:pPr>
            <a:endParaRPr lang="en-GB" dirty="0"/>
          </a:p>
          <a:p>
            <a:pPr algn="just"/>
            <a:r>
              <a:rPr lang="en-GB" dirty="0"/>
              <a:t>The objective is to interact with the subordinates and supervise their work, while they are performing it.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Benefits &amp; Dangers of MBWA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280453"/>
            <a:ext cx="3657600" cy="519684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/>
              <a:t>Benefits</a:t>
            </a:r>
            <a:endParaRPr lang="en-GB" dirty="0"/>
          </a:p>
          <a:p>
            <a:r>
              <a:rPr lang="en-GB" dirty="0"/>
              <a:t>Creating stronger communication channels and improving employee-superior relationships.</a:t>
            </a:r>
          </a:p>
          <a:p>
            <a:r>
              <a:rPr lang="en-GB" dirty="0"/>
              <a:t>Helping everyone focus on the correct operational aspects with work.</a:t>
            </a:r>
          </a:p>
          <a:p>
            <a:r>
              <a:rPr lang="en-US" dirty="0"/>
              <a:t>Improving the organization’s efficiency.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6296" y="1280453"/>
            <a:ext cx="3657600" cy="512064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/>
              <a:t>Dangers</a:t>
            </a:r>
            <a:endParaRPr lang="en-US" dirty="0"/>
          </a:p>
          <a:p>
            <a:r>
              <a:rPr lang="en-US" dirty="0"/>
              <a:t>Time-consuming strategy.</a:t>
            </a:r>
          </a:p>
          <a:p>
            <a:r>
              <a:rPr lang="en-GB" dirty="0"/>
              <a:t>Emphasizing the importance of employee opinion.</a:t>
            </a:r>
          </a:p>
          <a:p>
            <a:r>
              <a:rPr lang="en-US" dirty="0"/>
              <a:t>Implementing can be difficult.</a:t>
            </a:r>
          </a:p>
          <a:p>
            <a:pPr marL="82296" indent="0">
              <a:buNone/>
            </a:pP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27BFC2-816F-EDA0-EAD0-9CEA24675DDA}"/>
              </a:ext>
            </a:extLst>
          </p:cNvPr>
          <p:cNvCxnSpPr/>
          <p:nvPr/>
        </p:nvCxnSpPr>
        <p:spPr>
          <a:xfrm>
            <a:off x="4953000" y="1280453"/>
            <a:ext cx="0" cy="519684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23CB4-64DC-36AD-7B4F-596788E98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MCQ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F7A09-C5E3-63CD-9BBD-07F03C35F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US" dirty="0"/>
              <a:t>Who termed the name MBWA?</a:t>
            </a:r>
          </a:p>
          <a:p>
            <a:endParaRPr lang="en-US" dirty="0"/>
          </a:p>
          <a:p>
            <a:r>
              <a:rPr lang="en-US" dirty="0"/>
              <a:t>A) Peter Drucker</a:t>
            </a:r>
          </a:p>
          <a:p>
            <a:r>
              <a:rPr lang="en-US" dirty="0"/>
              <a:t>B) Tom Peter</a:t>
            </a:r>
          </a:p>
          <a:p>
            <a:r>
              <a:rPr lang="en-US" dirty="0"/>
              <a:t>C) Peter Atkinson</a:t>
            </a:r>
          </a:p>
          <a:p>
            <a:r>
              <a:rPr lang="en-US" dirty="0"/>
              <a:t>D) John Peter</a:t>
            </a:r>
          </a:p>
        </p:txBody>
      </p:sp>
    </p:spTree>
    <p:extLst>
      <p:ext uri="{BB962C8B-B14F-4D97-AF65-F5344CB8AC3E}">
        <p14:creationId xmlns:p14="http://schemas.microsoft.com/office/powerpoint/2010/main" val="2722256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9562F-82DA-19ED-68DE-CA191D3E5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Class Activity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A4243-3F9A-E3DE-6621-CED68EF11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608" y="2057400"/>
            <a:ext cx="7498080" cy="4191000"/>
          </a:xfrm>
        </p:spPr>
        <p:txBody>
          <a:bodyPr>
            <a:normAutofit/>
          </a:bodyPr>
          <a:lstStyle/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ProximaNovaMedium"/>
              </a:rPr>
              <a:t>You have to think about a problem that you currently have or had in the past.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ProximaNovaMedium"/>
              </a:rPr>
              <a:t>You have to follow a path of steps to a solution.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ProximaNovaMedium"/>
              </a:rPr>
              <a:t>You can use these solutions to tackle with the problem.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422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152400"/>
            <a:ext cx="7498080" cy="9144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Decision Making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032803"/>
            <a:ext cx="7790688" cy="5334000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GB" dirty="0"/>
              <a:t>A decision can be defined as </a:t>
            </a:r>
            <a:r>
              <a:rPr lang="en-GB" i="1" u="sng" dirty="0"/>
              <a:t>a course of action purposely chosen from a set of alternatives to achieve organizational or managerial objectives or goals. </a:t>
            </a:r>
          </a:p>
          <a:p>
            <a:pPr algn="just"/>
            <a:r>
              <a:rPr lang="en-GB" dirty="0"/>
              <a:t>Decision making process is continuous and indispensable component of managing any organization or business activities. </a:t>
            </a:r>
          </a:p>
          <a:p>
            <a:pPr algn="just"/>
            <a:r>
              <a:rPr lang="en-GB" dirty="0"/>
              <a:t>Decisions are made to sustain the activities of all business activities and organizational functioning.</a:t>
            </a:r>
          </a:p>
          <a:p>
            <a:pPr algn="just"/>
            <a:r>
              <a:rPr lang="en-GB" b="1" dirty="0"/>
              <a:t>In an organizational context, it is worthwhile to note that decision making needs the right kind of information, the complete information and the ability to synthesize and make sense of the information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175419"/>
            <a:ext cx="7498080" cy="86836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Decision Making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043781"/>
            <a:ext cx="7498080" cy="5638799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According to the </a:t>
            </a:r>
            <a:r>
              <a:rPr lang="en-GB" sz="2800" i="1" dirty="0"/>
              <a:t>Oxford Advanced Learner’s Dictionary</a:t>
            </a:r>
            <a:r>
              <a:rPr lang="en-GB" sz="2800" dirty="0"/>
              <a:t> the term decision making means - </a:t>
            </a:r>
            <a:r>
              <a:rPr lang="en-GB" sz="2800" u="sng" dirty="0"/>
              <a:t>the process of deciding about something important, especially in a group of people or in an organization.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 err="1"/>
              <a:t>Trewatha</a:t>
            </a:r>
            <a:r>
              <a:rPr lang="en-GB" sz="2800" dirty="0"/>
              <a:t> &amp; Newport defines decision making process as follows:, “</a:t>
            </a:r>
            <a:r>
              <a:rPr lang="en-GB" sz="2800" b="1" dirty="0"/>
              <a:t>Decision-making involves the selection of a course of action from among two or more possible alternatives in order to arrive at a solution for a given problem”</a:t>
            </a:r>
            <a:r>
              <a:rPr lang="en-GB" sz="2800" dirty="0"/>
              <a:t>.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28600"/>
            <a:ext cx="749808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Decision Making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066800"/>
            <a:ext cx="7498080" cy="5181600"/>
          </a:xfrm>
        </p:spPr>
        <p:txBody>
          <a:bodyPr/>
          <a:lstStyle/>
          <a:p>
            <a:pPr>
              <a:buNone/>
            </a:pPr>
            <a:r>
              <a:rPr lang="en-GB" dirty="0"/>
              <a:t> </a:t>
            </a:r>
            <a:r>
              <a:rPr lang="en-GB" b="1" dirty="0"/>
              <a:t>The Steps:</a:t>
            </a:r>
          </a:p>
          <a:p>
            <a:pPr>
              <a:buNone/>
            </a:pPr>
            <a:endParaRPr lang="en-GB" b="1" dirty="0"/>
          </a:p>
          <a:p>
            <a:r>
              <a:rPr lang="en-GB" dirty="0"/>
              <a:t>Defining the problem</a:t>
            </a:r>
          </a:p>
          <a:p>
            <a:r>
              <a:rPr lang="en-GB" dirty="0"/>
              <a:t>Gathering information and collecting data</a:t>
            </a:r>
          </a:p>
          <a:p>
            <a:r>
              <a:rPr lang="en-GB" dirty="0"/>
              <a:t>Developing and weighing the options</a:t>
            </a:r>
          </a:p>
          <a:p>
            <a:r>
              <a:rPr lang="en-GB" dirty="0"/>
              <a:t>Choosing best possible option</a:t>
            </a:r>
          </a:p>
          <a:p>
            <a:r>
              <a:rPr lang="en-GB" dirty="0"/>
              <a:t>Plan and execute</a:t>
            </a:r>
          </a:p>
          <a:p>
            <a:r>
              <a:rPr lang="en-GB" dirty="0"/>
              <a:t>Take follow up action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MCQ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GB" b="1" dirty="0"/>
              <a:t>Decision making process involves the following steps:</a:t>
            </a:r>
          </a:p>
          <a:p>
            <a:pPr marL="82296" indent="0">
              <a:buNone/>
            </a:pPr>
            <a:endParaRPr lang="en-GB" dirty="0"/>
          </a:p>
          <a:p>
            <a:pPr marL="596646" indent="-514350">
              <a:buFont typeface="+mj-lt"/>
              <a:buAutoNum type="alphaUcPeriod"/>
            </a:pPr>
            <a:r>
              <a:rPr lang="en-GB" dirty="0"/>
              <a:t>Curious Observation</a:t>
            </a:r>
          </a:p>
          <a:p>
            <a:pPr marL="596646" indent="-514350">
              <a:buFont typeface="+mj-lt"/>
              <a:buAutoNum type="alphaUcPeriod"/>
            </a:pPr>
            <a:r>
              <a:rPr lang="en-GB" dirty="0"/>
              <a:t>Existence of Problem</a:t>
            </a:r>
          </a:p>
          <a:p>
            <a:pPr marL="596646" indent="-514350">
              <a:buFont typeface="+mj-lt"/>
              <a:buAutoNum type="alphaUcPeriod"/>
            </a:pPr>
            <a:r>
              <a:rPr lang="en-GB" dirty="0"/>
              <a:t>Goals &amp; Planning</a:t>
            </a:r>
          </a:p>
          <a:p>
            <a:pPr marL="596646" indent="-514350">
              <a:buFont typeface="+mj-lt"/>
              <a:buAutoNum type="alphaUcPeriod"/>
            </a:pPr>
            <a:r>
              <a:rPr lang="en-GB" dirty="0"/>
              <a:t>All of the Above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0300" y="2743200"/>
            <a:ext cx="4343400" cy="1371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7200" dirty="0"/>
              <a:t>Thank You</a:t>
            </a:r>
            <a:endParaRPr lang="en-US" sz="72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37</TotalTime>
  <Words>534</Words>
  <Application>Microsoft Office PowerPoint</Application>
  <PresentationFormat>On-screen Show (4:3)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Gill Sans MT</vt:lpstr>
      <vt:lpstr>ProximaNovaMedium</vt:lpstr>
      <vt:lpstr>Verdana</vt:lpstr>
      <vt:lpstr>Wingdings 2</vt:lpstr>
      <vt:lpstr>Solstice</vt:lpstr>
      <vt:lpstr>MBWA  (Management by Wandering/Walking Around)  &amp;  Decision making</vt:lpstr>
      <vt:lpstr>Learning Outcomes</vt:lpstr>
      <vt:lpstr>MCQ</vt:lpstr>
      <vt:lpstr>MBWA</vt:lpstr>
      <vt:lpstr>MBWA</vt:lpstr>
      <vt:lpstr>Benefits &amp; Dangers of MBWA </vt:lpstr>
      <vt:lpstr>MCQ</vt:lpstr>
      <vt:lpstr>Class Activity</vt:lpstr>
      <vt:lpstr>Decision Making </vt:lpstr>
      <vt:lpstr>Decision Making </vt:lpstr>
      <vt:lpstr>Decision Making </vt:lpstr>
      <vt:lpstr>MCQ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MBWA &amp; Decision making</dc:title>
  <dc:creator>Dell</dc:creator>
  <cp:lastModifiedBy>davinder kaur</cp:lastModifiedBy>
  <cp:revision>27</cp:revision>
  <dcterms:created xsi:type="dcterms:W3CDTF">2006-08-16T00:00:00Z</dcterms:created>
  <dcterms:modified xsi:type="dcterms:W3CDTF">2022-08-30T09:16:44Z</dcterms:modified>
</cp:coreProperties>
</file>